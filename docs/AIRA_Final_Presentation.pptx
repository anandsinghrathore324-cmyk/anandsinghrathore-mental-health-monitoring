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66960" cy="457200"/>
          </a:xfrm>
          <a:prstGeom prst="rect">
            <a:avLst/>
          </a:prstGeom>
          <a:noFill/>
        </p:spPr>
        <p:txBody>
          <a:bodyPr wrap="none">
            <a:spAutoFit/>
          </a:bodyPr>
          <a:lstStyle/>
          <a:p>
            <a:pPr>
              <a:defRPr sz="1300" b="1">
                <a:solidFill>
                  <a:srgbClr val="38BDF8"/>
                </a:solidFill>
              </a:defRPr>
            </a:pPr>
            <a:r>
              <a:t>PRACTICE SCHOOL – I FINAL EXAMINATION &amp; TECHNICAL DEFENSE</a:t>
            </a:r>
          </a:p>
        </p:txBody>
      </p:sp>
      <p:sp>
        <p:nvSpPr>
          <p:cNvPr id="4" name="TextBox 3"/>
          <p:cNvSpPr txBox="1"/>
          <p:nvPr/>
        </p:nvSpPr>
        <p:spPr>
          <a:xfrm>
            <a:off x="1097280" y="1554480"/>
            <a:ext cx="9966960" cy="1371600"/>
          </a:xfrm>
          <a:prstGeom prst="rect">
            <a:avLst/>
          </a:prstGeom>
          <a:noFill/>
        </p:spPr>
        <p:txBody>
          <a:bodyPr wrap="none">
            <a:spAutoFit/>
          </a:bodyPr>
          <a:lstStyle/>
          <a:p>
            <a:pPr>
              <a:defRPr sz="3600" b="1">
                <a:solidFill>
                  <a:srgbClr val="FFFFFF"/>
                </a:solidFill>
              </a:defRPr>
            </a:pPr>
            <a:r>
              <a:t>AIRA: AI-Based Student Mental Health</a:t>
            </a:r>
            <a:br/>
            <a:r>
              <a:t>Monitoring &amp; Support Platform</a:t>
            </a:r>
          </a:p>
        </p:txBody>
      </p:sp>
      <p:sp>
        <p:nvSpPr>
          <p:cNvPr id="5" name="TextBox 4"/>
          <p:cNvSpPr txBox="1"/>
          <p:nvPr/>
        </p:nvSpPr>
        <p:spPr>
          <a:xfrm>
            <a:off x="1097280" y="3108960"/>
            <a:ext cx="9966960" cy="731520"/>
          </a:xfrm>
          <a:prstGeom prst="rect">
            <a:avLst/>
          </a:prstGeom>
          <a:noFill/>
        </p:spPr>
        <p:txBody>
          <a:bodyPr wrap="none">
            <a:spAutoFit/>
          </a:bodyPr>
          <a:lstStyle/>
          <a:p>
            <a:pPr>
              <a:defRPr sz="1500">
                <a:solidFill>
                  <a:srgbClr val="CBD5E1"/>
                </a:solidFill>
              </a:defRPr>
            </a:pPr>
            <a:r>
              <a:t>A Decoupled Full-Stack Architecture Integrating Dual ML Risk Diagnostics, Conversational AI Crisis Triaging, and Live Spatial Specialist Referrals</a:t>
            </a:r>
          </a:p>
        </p:txBody>
      </p:sp>
      <p:sp>
        <p:nvSpPr>
          <p:cNvPr id="6" name="Rounded Rectangle 5"/>
          <p:cNvSpPr/>
          <p:nvPr/>
        </p:nvSpPr>
        <p:spPr>
          <a:xfrm>
            <a:off x="1097280" y="4114800"/>
            <a:ext cx="4754880" cy="201168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297680"/>
            <a:ext cx="4389120" cy="1645920"/>
          </a:xfrm>
          <a:prstGeom prst="rect">
            <a:avLst/>
          </a:prstGeom>
          <a:noFill/>
        </p:spPr>
        <p:txBody>
          <a:bodyPr wrap="none">
            <a:spAutoFit/>
          </a:bodyPr>
          <a:lstStyle/>
          <a:p>
            <a:pPr>
              <a:defRPr sz="1200" b="1">
                <a:solidFill>
                  <a:srgbClr val="38BDF8"/>
                </a:solidFill>
              </a:defRPr>
            </a:pPr>
            <a:r>
              <a:t>DEVELOPED &amp; PRESENTED BY:</a:t>
            </a:r>
          </a:p>
          <a:p>
            <a:pPr>
              <a:defRPr sz="1300">
                <a:solidFill>
                  <a:srgbClr val="FFFFFF"/>
                </a:solidFill>
              </a:defRPr>
            </a:pPr>
            <a:r>
              <a:t>• Anand Singh Rathore (Roll No: 2024BTECH158)</a:t>
            </a:r>
            <a:br/>
            <a:r>
              <a:t>• Diksha Shekhawat (Roll No: 2024BTECH156)</a:t>
            </a:r>
            <a:br/>
            <a:r>
              <a:t>Degree: B.Tech Computer Science &amp; Engineering</a:t>
            </a:r>
          </a:p>
        </p:txBody>
      </p:sp>
      <p:sp>
        <p:nvSpPr>
          <p:cNvPr id="8" name="Rounded Rectangle 7"/>
          <p:cNvSpPr/>
          <p:nvPr/>
        </p:nvSpPr>
        <p:spPr>
          <a:xfrm>
            <a:off x="6217920" y="4114800"/>
            <a:ext cx="4846320" cy="2011680"/>
          </a:xfrm>
          <a:prstGeom prst="roundRect">
            <a:avLst/>
          </a:prstGeom>
          <a:solidFill>
            <a:srgbClr val="1E293B"/>
          </a:solidFill>
          <a:ln w="127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297680"/>
            <a:ext cx="4480560" cy="1645920"/>
          </a:xfrm>
          <a:prstGeom prst="rect">
            <a:avLst/>
          </a:prstGeom>
          <a:noFill/>
        </p:spPr>
        <p:txBody>
          <a:bodyPr wrap="none">
            <a:spAutoFit/>
          </a:bodyPr>
          <a:lstStyle/>
          <a:p>
            <a:pPr>
              <a:defRPr sz="1200" b="1">
                <a:solidFill>
                  <a:srgbClr val="C084FC"/>
                </a:solidFill>
              </a:defRPr>
            </a:pPr>
            <a:r>
              <a:t>SUPERVISORS &amp; INSTITUTION:</a:t>
            </a:r>
          </a:p>
          <a:p>
            <a:pPr>
              <a:defRPr sz="1300">
                <a:solidFill>
                  <a:srgbClr val="FFFFFF"/>
                </a:solidFill>
              </a:defRPr>
            </a:pPr>
            <a:r>
              <a:t>• Internal: Dr. Sonali Vyas &amp; Dr. Rajnish Kumar</a:t>
            </a:r>
            <a:br/>
            <a:r>
              <a:t>• External: Dr. Saurabh Kumar</a:t>
            </a:r>
            <a:br/>
            <a:r>
              <a:t>Department of CSE, JK Lakshmipat University, Jaipur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The Mental Health Crisis in Higher Education</a:t>
            </a:r>
          </a:p>
        </p:txBody>
      </p:sp>
      <p:sp>
        <p:nvSpPr>
          <p:cNvPr id="4" name="Rounded Rectangle 3"/>
          <p:cNvSpPr/>
          <p:nvPr/>
        </p:nvSpPr>
        <p:spPr>
          <a:xfrm>
            <a:off x="731520" y="1371600"/>
            <a:ext cx="32918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26080" cy="1645920"/>
          </a:xfrm>
          <a:prstGeom prst="rect">
            <a:avLst/>
          </a:prstGeom>
          <a:noFill/>
        </p:spPr>
        <p:txBody>
          <a:bodyPr wrap="none">
            <a:spAutoFit/>
          </a:bodyPr>
          <a:lstStyle/>
          <a:p>
            <a:pPr>
              <a:defRPr sz="3600" b="1">
                <a:solidFill>
                  <a:srgbClr val="EF4444"/>
                </a:solidFill>
              </a:defRPr>
            </a:pPr>
            <a:r>
              <a:t>60%+</a:t>
            </a:r>
          </a:p>
          <a:p>
            <a:pPr>
              <a:defRPr sz="1200"/>
            </a:pPr>
            <a:r>
              <a:t>Of university students report acute academic anxiety, sleep deprivation, or emotional burnout.</a:t>
            </a:r>
          </a:p>
        </p:txBody>
      </p:sp>
      <p:sp>
        <p:nvSpPr>
          <p:cNvPr id="6" name="Rounded Rectangle 5"/>
          <p:cNvSpPr/>
          <p:nvPr/>
        </p:nvSpPr>
        <p:spPr>
          <a:xfrm>
            <a:off x="4389120" y="1371600"/>
            <a:ext cx="32918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2926080" cy="1645920"/>
          </a:xfrm>
          <a:prstGeom prst="rect">
            <a:avLst/>
          </a:prstGeom>
          <a:noFill/>
        </p:spPr>
        <p:txBody>
          <a:bodyPr wrap="none">
            <a:spAutoFit/>
          </a:bodyPr>
          <a:lstStyle/>
          <a:p>
            <a:pPr>
              <a:defRPr sz="3600" b="1">
                <a:solidFill>
                  <a:srgbClr val="0284C7"/>
                </a:solidFill>
              </a:defRPr>
            </a:pPr>
            <a:r>
              <a:t>&lt; 15%</a:t>
            </a:r>
          </a:p>
          <a:p>
            <a:pPr>
              <a:defRPr sz="1200"/>
            </a:pPr>
            <a:r>
              <a:t>Seek institutional counseling due to social stigma, peer judgment, and privacy fears.</a:t>
            </a:r>
          </a:p>
        </p:txBody>
      </p:sp>
      <p:sp>
        <p:nvSpPr>
          <p:cNvPr id="8" name="Rounded Rectangle 7"/>
          <p:cNvSpPr/>
          <p:nvPr/>
        </p:nvSpPr>
        <p:spPr>
          <a:xfrm>
            <a:off x="8046720" y="1371600"/>
            <a:ext cx="32918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2926080" cy="1645920"/>
          </a:xfrm>
          <a:prstGeom prst="rect">
            <a:avLst/>
          </a:prstGeom>
          <a:noFill/>
        </p:spPr>
        <p:txBody>
          <a:bodyPr wrap="none">
            <a:spAutoFit/>
          </a:bodyPr>
          <a:lstStyle/>
          <a:p>
            <a:pPr>
              <a:defRPr sz="2800" b="1">
                <a:solidFill>
                  <a:srgbClr val="7209B7"/>
                </a:solidFill>
              </a:defRPr>
            </a:pPr>
            <a:r>
              <a:t>11 PM - 4 AM</a:t>
            </a:r>
          </a:p>
          <a:p>
            <a:pPr>
              <a:defRPr sz="1200"/>
            </a:pPr>
            <a:r>
              <a:t>Peak hours for psychological distress and crisis despair when university clinics are closed.</a:t>
            </a:r>
          </a:p>
        </p:txBody>
      </p:sp>
      <p:sp>
        <p:nvSpPr>
          <p:cNvPr id="10" name="Rounded Rectangle 9"/>
          <p:cNvSpPr/>
          <p:nvPr/>
        </p:nvSpPr>
        <p:spPr>
          <a:xfrm>
            <a:off x="731520" y="3657600"/>
            <a:ext cx="1060704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40480"/>
            <a:ext cx="10058400" cy="2286000"/>
          </a:xfrm>
          <a:prstGeom prst="rect">
            <a:avLst/>
          </a:prstGeom>
          <a:noFill/>
        </p:spPr>
        <p:txBody>
          <a:bodyPr wrap="none">
            <a:spAutoFit/>
          </a:bodyPr>
          <a:lstStyle/>
          <a:p>
            <a:pPr>
              <a:defRPr sz="1600" b="1">
                <a:solidFill>
                  <a:srgbClr val="1E293B"/>
                </a:solidFill>
              </a:defRPr>
            </a:pPr>
            <a:r>
              <a:t>Key Bottlenecks in Traditional Institutional Care:</a:t>
            </a:r>
          </a:p>
          <a:p>
            <a:pPr>
              <a:defRPr sz="1300">
                <a:solidFill>
                  <a:srgbClr val="64748B"/>
                </a:solidFill>
              </a:defRPr>
            </a:pPr>
            <a:r>
              <a:t>• Appointment Waiting Queues: Traditional campus centers take 3 to 14 days to schedule an initial session, failing during urgent crises.</a:t>
            </a:r>
          </a:p>
          <a:p>
            <a:pPr>
              <a:defRPr sz="1300">
                <a:solidFill>
                  <a:srgbClr val="64748B"/>
                </a:solidFill>
              </a:defRPr>
            </a:pPr>
            <a:r>
              <a:t>• Static Survey Blindspot: Paper questionnaires (PHQ-9, GAD-7) capture a single static moment, missing daily oscillations between sleep and strain.</a:t>
            </a:r>
          </a:p>
          <a:p>
            <a:pPr>
              <a:defRPr sz="1300">
                <a:solidFill>
                  <a:srgbClr val="64748B"/>
                </a:solidFill>
              </a:defRPr>
            </a:pPr>
            <a:r>
              <a:t>• Reactive Post-Crisis Model: Support only occurs after academic failure or severe breakdown, lacking early proactive behavioral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The AIRA Solution — Proactive 24/7 Digital Wellness</a:t>
            </a:r>
          </a:p>
        </p:txBody>
      </p:sp>
      <p:sp>
        <p:nvSpPr>
          <p:cNvPr id="4" name="Rounded Rectangle 3"/>
          <p:cNvSpPr/>
          <p:nvPr/>
        </p:nvSpPr>
        <p:spPr>
          <a:xfrm>
            <a:off x="731520" y="146304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017520" cy="4206240"/>
          </a:xfrm>
          <a:prstGeom prst="rect">
            <a:avLst/>
          </a:prstGeom>
          <a:noFill/>
        </p:spPr>
        <p:txBody>
          <a:bodyPr wrap="none">
            <a:spAutoFit/>
          </a:bodyPr>
          <a:lstStyle/>
          <a:p>
            <a:pPr>
              <a:defRPr sz="1800" b="1">
                <a:solidFill>
                  <a:srgbClr val="0284C7"/>
                </a:solidFill>
              </a:defRPr>
            </a:pPr>
            <a:r>
              <a:t>1. Dual ML Diagnostics</a:t>
            </a:r>
          </a:p>
          <a:p>
            <a:pPr>
              <a:defRPr sz="1300">
                <a:solidFill>
                  <a:srgbClr val="1E293B"/>
                </a:solidFill>
              </a:defRPr>
            </a:pPr>
            <a:r>
              <a:t>Blends Hugging Face DistilBERT NLP (free-text emotions) with Scikit-Learn Logistic Regression (sleep, study, screen time) to compute an objective 0–100 Wellness Index.</a:t>
            </a:r>
          </a:p>
          <a:p>
            <a:br/>
            <a:pPr>
              <a:defRPr sz="1100">
                <a:solidFill>
                  <a:srgbClr val="64748B"/>
                </a:solidFill>
              </a:defRPr>
            </a:pPr>
            <a:r>
              <a:t>Core Advantage:</a:t>
            </a:r>
            <a:br/>
            <a:r>
              <a:t>• Completely Anonymous</a:t>
            </a:r>
            <a:br/>
            <a:r>
              <a:t>• Real-Time Triaging (&lt; 1s)</a:t>
            </a:r>
            <a:br/>
            <a:r>
              <a:t>• Zero Appointment Waiting</a:t>
            </a:r>
          </a:p>
        </p:txBody>
      </p:sp>
      <p:sp>
        <p:nvSpPr>
          <p:cNvPr id="6" name="Rounded Rectangle 5"/>
          <p:cNvSpPr/>
          <p:nvPr/>
        </p:nvSpPr>
        <p:spPr>
          <a:xfrm>
            <a:off x="4389120" y="146304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37360"/>
            <a:ext cx="3017520" cy="4206240"/>
          </a:xfrm>
          <a:prstGeom prst="rect">
            <a:avLst/>
          </a:prstGeom>
          <a:noFill/>
        </p:spPr>
        <p:txBody>
          <a:bodyPr wrap="none">
            <a:spAutoFit/>
          </a:bodyPr>
          <a:lstStyle/>
          <a:p>
            <a:pPr>
              <a:defRPr sz="1800" b="1">
                <a:solidFill>
                  <a:srgbClr val="7209B7"/>
                </a:solidFill>
              </a:defRPr>
            </a:pPr>
            <a:r>
              <a:t>2. Empathetic Conversational AI</a:t>
            </a:r>
          </a:p>
          <a:p>
            <a:pPr>
              <a:defRPr sz="1300">
                <a:solidFill>
                  <a:srgbClr val="1E293B"/>
                </a:solidFill>
              </a:defRPr>
            </a:pPr>
            <a:r>
              <a:t>Llama 3.3 70B on Groq LPUs delivering sub-400ms coaching with an automated CrisisHandler that immediately intercepts self-harm and surfaces 24/7 helplines.</a:t>
            </a:r>
          </a:p>
          <a:p>
            <a:br/>
            <a:pPr>
              <a:defRPr sz="1100">
                <a:solidFill>
                  <a:srgbClr val="64748B"/>
                </a:solidFill>
              </a:defRPr>
            </a:pPr>
            <a:r>
              <a:t>Core Advantage:</a:t>
            </a:r>
            <a:br/>
            <a:r>
              <a:t>• Completely Anonymous</a:t>
            </a:r>
            <a:br/>
            <a:r>
              <a:t>• Real-Time Triaging (&lt; 1s)</a:t>
            </a:r>
            <a:br/>
            <a:r>
              <a:t>• Zero Appointment Waiting</a:t>
            </a:r>
          </a:p>
        </p:txBody>
      </p:sp>
      <p:sp>
        <p:nvSpPr>
          <p:cNvPr id="8" name="Rounded Rectangle 7"/>
          <p:cNvSpPr/>
          <p:nvPr/>
        </p:nvSpPr>
        <p:spPr>
          <a:xfrm>
            <a:off x="8046720" y="146304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37360"/>
            <a:ext cx="3017520" cy="4206240"/>
          </a:xfrm>
          <a:prstGeom prst="rect">
            <a:avLst/>
          </a:prstGeom>
          <a:noFill/>
        </p:spPr>
        <p:txBody>
          <a:bodyPr wrap="none">
            <a:spAutoFit/>
          </a:bodyPr>
          <a:lstStyle/>
          <a:p>
            <a:pPr>
              <a:defRPr sz="1800" b="1">
                <a:solidFill>
                  <a:srgbClr val="10B981"/>
                </a:solidFill>
              </a:defRPr>
            </a:pPr>
            <a:r>
              <a:t>3. Live Geolocation Referrals</a:t>
            </a:r>
          </a:p>
          <a:p>
            <a:pPr>
              <a:defRPr sz="1300">
                <a:solidFill>
                  <a:srgbClr val="1E293B"/>
                </a:solidFill>
              </a:defRPr>
            </a:pPr>
            <a:r>
              <a:t>Captures device GPS coordinates, queries Google Places API (New), and applies the Haversine formula to sort verified local psychiatrists within a strict 100 km boundary.</a:t>
            </a:r>
          </a:p>
          <a:p>
            <a:br/>
            <a:pPr>
              <a:defRPr sz="1100">
                <a:solidFill>
                  <a:srgbClr val="64748B"/>
                </a:solidFill>
              </a:defRPr>
            </a:pPr>
            <a:r>
              <a:t>Core Advantage:</a:t>
            </a:r>
            <a:br/>
            <a:r>
              <a:t>• Completely Anonymous</a:t>
            </a:r>
            <a:br/>
            <a:r>
              <a:t>• Real-Time Triaging (&lt; 1s)</a:t>
            </a:r>
            <a:br/>
            <a:r>
              <a:t>• Zero Appointment Waiting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Decoupled Full-Stack Architecture &amp; Microservices</a:t>
            </a:r>
          </a:p>
        </p:txBody>
      </p:sp>
      <p:sp>
        <p:nvSpPr>
          <p:cNvPr id="4" name="Rounded Rectangle 3"/>
          <p:cNvSpPr/>
          <p:nvPr/>
        </p:nvSpPr>
        <p:spPr>
          <a:xfrm>
            <a:off x="731520" y="137160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08760"/>
            <a:ext cx="10149840" cy="1005840"/>
          </a:xfrm>
          <a:prstGeom prst="rect">
            <a:avLst/>
          </a:prstGeom>
          <a:noFill/>
        </p:spPr>
        <p:txBody>
          <a:bodyPr wrap="none">
            <a:spAutoFit/>
          </a:bodyPr>
          <a:lstStyle/>
          <a:p>
            <a:pPr>
              <a:defRPr sz="1500" b="1">
                <a:solidFill>
                  <a:srgbClr val="0284C7"/>
                </a:solidFill>
              </a:defRPr>
            </a:pPr>
            <a:r>
              <a:t>CLIENT FRONTEND (Port 3000)</a:t>
            </a:r>
          </a:p>
          <a:p>
            <a:pPr>
              <a:defRPr sz="1200">
                <a:solidFill>
                  <a:srgbClr val="1E293B"/>
                </a:solidFill>
              </a:defRPr>
            </a:pPr>
            <a:r>
              <a:t>Vanilla HTML5 / CSS3 Glassmorphic UI / ES6+ JS / Chart.js</a:t>
            </a:r>
            <a:br/>
            <a:r>
              <a:t>Vite 6 Development &amp; Build Server (Zero Framework Bloat)</a:t>
            </a:r>
          </a:p>
        </p:txBody>
      </p:sp>
      <p:sp>
        <p:nvSpPr>
          <p:cNvPr id="6" name="Rounded Rectangle 5"/>
          <p:cNvSpPr/>
          <p:nvPr/>
        </p:nvSpPr>
        <p:spPr>
          <a:xfrm>
            <a:off x="731520" y="292608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63240"/>
            <a:ext cx="10149840" cy="1005840"/>
          </a:xfrm>
          <a:prstGeom prst="rect">
            <a:avLst/>
          </a:prstGeom>
          <a:noFill/>
        </p:spPr>
        <p:txBody>
          <a:bodyPr wrap="none">
            <a:spAutoFit/>
          </a:bodyPr>
          <a:lstStyle/>
          <a:p>
            <a:pPr>
              <a:defRPr sz="1500" b="1">
                <a:solidFill>
                  <a:srgbClr val="7209B7"/>
                </a:solidFill>
              </a:defRPr>
            </a:pPr>
            <a:r>
              <a:t>FLASK MICROSERVICE API (Port 5000)</a:t>
            </a:r>
          </a:p>
          <a:p>
            <a:pPr>
              <a:defRPr sz="1200">
                <a:solidFill>
                  <a:srgbClr val="1E293B"/>
                </a:solidFill>
              </a:defRPr>
            </a:pPr>
            <a:r>
              <a:t>Python 3.12 / Decoupled Modular Blueprints / PyJWT Stateless Tokens</a:t>
            </a:r>
            <a:br/>
            <a:r>
              <a:t>Bcrypt 12 Salt Rounds Hashing / Input Validation Middleware</a:t>
            </a:r>
          </a:p>
        </p:txBody>
      </p:sp>
      <p:sp>
        <p:nvSpPr>
          <p:cNvPr id="8" name="Rounded Rectangle 7"/>
          <p:cNvSpPr/>
          <p:nvPr/>
        </p:nvSpPr>
        <p:spPr>
          <a:xfrm>
            <a:off x="731520" y="448056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617720"/>
            <a:ext cx="10149840" cy="1005840"/>
          </a:xfrm>
          <a:prstGeom prst="rect">
            <a:avLst/>
          </a:prstGeom>
          <a:noFill/>
        </p:spPr>
        <p:txBody>
          <a:bodyPr wrap="none">
            <a:spAutoFit/>
          </a:bodyPr>
          <a:lstStyle/>
          <a:p>
            <a:pPr>
              <a:defRPr sz="1500" b="1">
                <a:solidFill>
                  <a:srgbClr val="10B981"/>
                </a:solidFill>
              </a:defRPr>
            </a:pPr>
            <a:r>
              <a:t>INTELLIGENCE &amp; AI LAYER</a:t>
            </a:r>
          </a:p>
          <a:p>
            <a:pPr>
              <a:defRPr sz="1200">
                <a:solidFill>
                  <a:srgbClr val="1E293B"/>
                </a:solidFill>
              </a:defRPr>
            </a:pPr>
            <a:r>
              <a:t>DistilBERT Multi-Emotion Singleton / Logistic Regression Predictor</a:t>
            </a:r>
            <a:br/>
            <a:r>
              <a:t>Groq LPU Llama 3.3 70B LLM / Google Places (New) API</a:t>
            </a:r>
          </a:p>
        </p:txBody>
      </p:sp>
      <p:sp>
        <p:nvSpPr>
          <p:cNvPr id="10" name="Rounded Rectangle 9"/>
          <p:cNvSpPr/>
          <p:nvPr/>
        </p:nvSpPr>
        <p:spPr>
          <a:xfrm>
            <a:off x="731520" y="5943600"/>
            <a:ext cx="10698480" cy="54864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989320"/>
            <a:ext cx="10149840" cy="457200"/>
          </a:xfrm>
          <a:prstGeom prst="rect">
            <a:avLst/>
          </a:prstGeom>
          <a:noFill/>
        </p:spPr>
        <p:txBody>
          <a:bodyPr wrap="none">
            <a:spAutoFit/>
          </a:bodyPr>
          <a:lstStyle/>
          <a:p>
            <a:pPr>
              <a:defRPr sz="1100" b="1">
                <a:solidFill>
                  <a:srgbClr val="FFFFFF"/>
                </a:solidFill>
              </a:defRPr>
            </a:pPr>
            <a:r>
              <a:t>PERSISTENCE &amp; EXTERNAL SERVICES: MongoDB Atlas Cluster (5-Min TTL OTP Index) • Brevo REST API v3 (HTTPS Port 443)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Empirical Datasets &amp; Data Preprocessing Pipeline</a:t>
            </a:r>
          </a:p>
        </p:txBody>
      </p:sp>
      <p:sp>
        <p:nvSpPr>
          <p:cNvPr id="4" name="Rounded Rectangle 3"/>
          <p:cNvSpPr/>
          <p:nvPr/>
        </p:nvSpPr>
        <p:spPr>
          <a:xfrm>
            <a:off x="731520" y="1371600"/>
            <a:ext cx="59436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577840" cy="4572000"/>
          </a:xfrm>
          <a:prstGeom prst="rect">
            <a:avLst/>
          </a:prstGeom>
          <a:noFill/>
        </p:spPr>
        <p:txBody>
          <a:bodyPr wrap="none">
            <a:spAutoFit/>
          </a:bodyPr>
          <a:lstStyle/>
          <a:p>
            <a:pPr>
              <a:defRPr sz="1600" b="1">
                <a:solidFill>
                  <a:srgbClr val="0284C7"/>
                </a:solidFill>
              </a:defRPr>
            </a:pPr>
            <a:r>
              <a:t>1. Student Depression Dataset (Primary)</a:t>
            </a:r>
          </a:p>
          <a:p>
            <a:pPr>
              <a:defRPr sz="1200">
                <a:solidFill>
                  <a:srgbClr val="1E293B"/>
                </a:solidFill>
              </a:defRPr>
            </a:pPr>
            <a:r>
              <a:t>• Sample Size: 27,901 authentic student records (~2.8 MB).</a:t>
            </a:r>
          </a:p>
          <a:p>
            <a:pPr>
              <a:defRPr sz="1200">
                <a:solidFill>
                  <a:srgbClr val="1E293B"/>
                </a:solidFill>
              </a:defRPr>
            </a:pPr>
            <a:r>
              <a:t>• Total Dimensions: 18 demographic, academic, and psychological variables.</a:t>
            </a:r>
          </a:p>
          <a:p>
            <a:pPr>
              <a:defRPr sz="1200">
                <a:solidFill>
                  <a:srgbClr val="1E293B"/>
                </a:solidFill>
              </a:defRPr>
            </a:pPr>
            <a:r>
              <a:t>• Core Features: Academic Pressure (1-5), CGPA, Sleep Duration, Work/Study Hours, Study Satisfaction, Financial Stress, and Suicidal History.</a:t>
            </a:r>
          </a:p>
          <a:p>
            <a:pPr>
              <a:defRPr sz="1200">
                <a:solidFill>
                  <a:srgbClr val="1E293B"/>
                </a:solidFill>
              </a:defRPr>
            </a:pPr>
            <a:r>
              <a:t>• Target Label: Depression (Binary classification: 0 = Low/Balanced, 1 = Elevated Risk).</a:t>
            </a:r>
          </a:p>
          <a:p>
            <a:pPr>
              <a:defRPr sz="1200">
                <a:solidFill>
                  <a:srgbClr val="1E293B"/>
                </a:solidFill>
              </a:defRPr>
            </a:pPr>
            <a:r>
              <a:t>• Train/Test Split: 80% Training (22,320 rows) and 20% Testing (5,581 rows).</a:t>
            </a:r>
          </a:p>
          <a:p>
            <a:br/>
            <a:pPr>
              <a:defRPr sz="1100">
                <a:solidFill>
                  <a:srgbClr val="64748B"/>
                </a:solidFill>
              </a:defRPr>
            </a:pPr>
            <a:r>
              <a:t>2. Secondary Datasets: smmh.csv (481 rows, social media usage) &amp; Student Mental health.csv (101 rows, panic/anxiety correlations).</a:t>
            </a:r>
          </a:p>
        </p:txBody>
      </p:sp>
      <p:sp>
        <p:nvSpPr>
          <p:cNvPr id="6" name="Rounded Rectangle 5"/>
          <p:cNvSpPr/>
          <p:nvPr/>
        </p:nvSpPr>
        <p:spPr>
          <a:xfrm>
            <a:off x="6949440" y="1371600"/>
            <a:ext cx="44805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554480"/>
            <a:ext cx="4114800" cy="4572000"/>
          </a:xfrm>
          <a:prstGeom prst="rect">
            <a:avLst/>
          </a:prstGeom>
          <a:noFill/>
        </p:spPr>
        <p:txBody>
          <a:bodyPr wrap="none">
            <a:spAutoFit/>
          </a:bodyPr>
          <a:lstStyle/>
          <a:p>
            <a:pPr>
              <a:defRPr sz="1600" b="1">
                <a:solidFill>
                  <a:srgbClr val="7209B7"/>
                </a:solidFill>
              </a:defRPr>
            </a:pPr>
            <a:r>
              <a:t>Data Engineering &amp; Pipeline:</a:t>
            </a:r>
          </a:p>
          <a:p>
            <a:pPr>
              <a:defRPr sz="1200">
                <a:solidFill>
                  <a:srgbClr val="1E293B"/>
                </a:solidFill>
              </a:defRPr>
            </a:pPr>
            <a:r>
              <a:t>• Cleaning: Dropped corrupt entries, imputed missing numerical fields with medians and categorical fields with modes.</a:t>
            </a:r>
          </a:p>
          <a:p>
            <a:pPr>
              <a:defRPr sz="1200">
                <a:solidFill>
                  <a:srgbClr val="1E293B"/>
                </a:solidFill>
              </a:defRPr>
            </a:pPr>
            <a:r>
              <a:t>• OneHotEncoding: Categorical variables (Gender, Sleep Duration, Diet) transformed into numerical sparse vectors.</a:t>
            </a:r>
          </a:p>
          <a:p>
            <a:pPr>
              <a:defRPr sz="1200">
                <a:solidFill>
                  <a:srgbClr val="1E293B"/>
                </a:solidFill>
              </a:defRPr>
            </a:pPr>
            <a:r>
              <a:t>• StandardScaler: All continuous metrics standardized to zero mean and unit variance ($z = (x - \mu) / \sigma$).</a:t>
            </a:r>
          </a:p>
          <a:p>
            <a:pPr>
              <a:defRPr sz="1200">
                <a:solidFill>
                  <a:srgbClr val="1E293B"/>
                </a:solidFill>
              </a:defRPr>
            </a:pPr>
            <a:r>
              <a:t>• NLP Corpora: depression-reddit-cleaned (7,731 posts) and mental-health-corpus (27,977 texts) for linguistic tuning.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Behavioral Predictor — Multi-Model Benchmark Comparison</a:t>
            </a:r>
          </a:p>
        </p:txBody>
      </p:sp>
      <p:pic>
        <p:nvPicPr>
          <p:cNvPr id="4" name="Picture 3" descr="1_model_performance_comparison.png"/>
          <p:cNvPicPr>
            <a:picLocks noChangeAspect="1"/>
          </p:cNvPicPr>
          <p:nvPr/>
        </p:nvPicPr>
        <p:blipFill>
          <a:blip r:embed="rId2"/>
          <a:stretch>
            <a:fillRect/>
          </a:stretch>
        </p:blipFill>
        <p:spPr>
          <a:xfrm>
            <a:off x="731520" y="1371600"/>
            <a:ext cx="6583680" cy="3950208"/>
          </a:xfrm>
          <a:prstGeom prst="rect">
            <a:avLst/>
          </a:prstGeom>
        </p:spPr>
      </p:pic>
      <p:sp>
        <p:nvSpPr>
          <p:cNvPr id="5" name="Rounded Rectangle 4"/>
          <p:cNvSpPr/>
          <p:nvPr/>
        </p:nvSpPr>
        <p:spPr>
          <a:xfrm>
            <a:off x="7589520" y="1371600"/>
            <a:ext cx="3840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554480"/>
            <a:ext cx="3474720" cy="4572000"/>
          </a:xfrm>
          <a:prstGeom prst="rect">
            <a:avLst/>
          </a:prstGeom>
          <a:noFill/>
        </p:spPr>
        <p:txBody>
          <a:bodyPr wrap="none">
            <a:spAutoFit/>
          </a:bodyPr>
          <a:lstStyle/>
          <a:p>
            <a:pPr>
              <a:defRPr sz="1600" b="1">
                <a:solidFill>
                  <a:srgbClr val="0284C7"/>
                </a:solidFill>
              </a:defRPr>
            </a:pPr>
            <a:r>
              <a:t>Why Logistic Regression Won:</a:t>
            </a:r>
          </a:p>
          <a:p>
            <a:pPr>
              <a:defRPr sz="1200">
                <a:solidFill>
                  <a:srgbClr val="1E293B"/>
                </a:solidFill>
              </a:defRPr>
            </a:pPr>
            <a:r>
              <a:t>• Accuracy: 79.82% vs XGBoost (78.73%) and Random Forest (77.39%).</a:t>
            </a:r>
          </a:p>
          <a:p>
            <a:pPr>
              <a:defRPr sz="1200">
                <a:solidFill>
                  <a:srgbClr val="1E293B"/>
                </a:solidFill>
              </a:defRPr>
            </a:pPr>
            <a:r>
              <a:t>• Recall: 85.16% — The highest sensitivity in detecting at-risk students.</a:t>
            </a:r>
          </a:p>
          <a:p>
            <a:pPr>
              <a:defRPr sz="1200">
                <a:solidFill>
                  <a:srgbClr val="1E293B"/>
                </a:solidFill>
              </a:defRPr>
            </a:pPr>
            <a:r>
              <a:t>• ROC-AUC: 0.8666 — Dominant discriminatory power across all probability thresholds.</a:t>
            </a:r>
          </a:p>
          <a:p>
            <a:pPr>
              <a:defRPr sz="1200">
                <a:solidFill>
                  <a:srgbClr val="1E293B"/>
                </a:solidFill>
              </a:defRPr>
            </a:pPr>
            <a:r>
              <a:t>• Latency: Sub-0.5ms inference execution, requiring zero heavy dependencies.</a:t>
            </a:r>
          </a:p>
          <a:p>
            <a:pPr>
              <a:defRPr sz="1200">
                <a:solidFill>
                  <a:srgbClr val="1E293B"/>
                </a:solidFill>
              </a:defRPr>
            </a:pPr>
            <a:r>
              <a:t>• Clinical Calibrations: Outputs direct probabilities via the Sigmoid curve that directly map to our 0–100 Wellness Index.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Confusion Matrix Analysis &amp; Clinical Safety Defense</a:t>
            </a:r>
          </a:p>
        </p:txBody>
      </p:sp>
      <p:pic>
        <p:nvPicPr>
          <p:cNvPr id="4" name="Picture 3" descr="2_confusion_matrices_comparison.png"/>
          <p:cNvPicPr>
            <a:picLocks noChangeAspect="1"/>
          </p:cNvPicPr>
          <p:nvPr/>
        </p:nvPicPr>
        <p:blipFill>
          <a:blip r:embed="rId2"/>
          <a:stretch>
            <a:fillRect/>
          </a:stretch>
        </p:blipFill>
        <p:spPr>
          <a:xfrm>
            <a:off x="731520" y="1371600"/>
            <a:ext cx="10698480" cy="3566160"/>
          </a:xfrm>
          <a:prstGeom prst="rect">
            <a:avLst/>
          </a:prstGeom>
        </p:spPr>
      </p:pic>
      <p:sp>
        <p:nvSpPr>
          <p:cNvPr id="5" name="Rounded Rectangle 4"/>
          <p:cNvSpPr/>
          <p:nvPr/>
        </p:nvSpPr>
        <p:spPr>
          <a:xfrm>
            <a:off x="731520" y="5212080"/>
            <a:ext cx="10698480" cy="12801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5303520"/>
            <a:ext cx="10149840" cy="1097280"/>
          </a:xfrm>
          <a:prstGeom prst="rect">
            <a:avLst/>
          </a:prstGeom>
          <a:noFill/>
        </p:spPr>
        <p:txBody>
          <a:bodyPr wrap="none">
            <a:spAutoFit/>
          </a:bodyPr>
          <a:lstStyle/>
          <a:p>
            <a:pPr>
              <a:defRPr sz="1400" b="1">
                <a:solidFill>
                  <a:srgbClr val="EF4444"/>
                </a:solidFill>
              </a:defRPr>
            </a:pPr>
            <a:r>
              <a:t>The Clinical Recall Principle (Saving Lives):</a:t>
            </a:r>
          </a:p>
          <a:p>
            <a:pPr>
              <a:defRPr sz="1200">
                <a:solidFill>
                  <a:srgbClr val="1E293B"/>
                </a:solidFill>
              </a:defRPr>
            </a:pPr>
            <a:r>
              <a:t>In healthcare diagnostics, a False Negative (FN) means an acutely distressed student is missed and receives no support. Logistic Regression achieved only 485 False Negatives, outperforming Random Forest (604 missed) and XGBoost (536 missed). Minimizing False Negatives is our primary clinical safety constraint.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Receiver Operating Characteristic (ROC-AUC) Analysis</a:t>
            </a:r>
          </a:p>
        </p:txBody>
      </p:sp>
      <p:pic>
        <p:nvPicPr>
          <p:cNvPr id="4" name="Picture 3" descr="3_roc_auc_curves.png"/>
          <p:cNvPicPr>
            <a:picLocks noChangeAspect="1"/>
          </p:cNvPicPr>
          <p:nvPr/>
        </p:nvPicPr>
        <p:blipFill>
          <a:blip r:embed="rId2"/>
          <a:stretch>
            <a:fillRect/>
          </a:stretch>
        </p:blipFill>
        <p:spPr>
          <a:xfrm>
            <a:off x="731520" y="1371600"/>
            <a:ext cx="6217920" cy="4663440"/>
          </a:xfrm>
          <a:prstGeom prst="rect">
            <a:avLst/>
          </a:prstGeom>
        </p:spPr>
      </p:pic>
      <p:sp>
        <p:nvSpPr>
          <p:cNvPr id="5" name="Rounded Rectangle 4"/>
          <p:cNvSpPr/>
          <p:nvPr/>
        </p:nvSpPr>
        <p:spPr>
          <a:xfrm>
            <a:off x="7223760" y="137160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4572000"/>
          </a:xfrm>
          <a:prstGeom prst="rect">
            <a:avLst/>
          </a:prstGeom>
          <a:noFill/>
        </p:spPr>
        <p:txBody>
          <a:bodyPr wrap="none">
            <a:spAutoFit/>
          </a:bodyPr>
          <a:lstStyle/>
          <a:p>
            <a:pPr>
              <a:defRPr sz="1600" b="1">
                <a:solidFill>
                  <a:srgbClr val="0284C7"/>
                </a:solidFill>
              </a:defRPr>
            </a:pPr>
            <a:r>
              <a:t>Discriminative Thresholds:</a:t>
            </a:r>
          </a:p>
          <a:p>
            <a:pPr>
              <a:defRPr sz="1200">
                <a:solidFill>
                  <a:srgbClr val="1E293B"/>
                </a:solidFill>
              </a:defRPr>
            </a:pPr>
            <a:r>
              <a:t>• Area Under Curve (AUC) measures model performance across all possible classification cutoffs.</a:t>
            </a:r>
          </a:p>
          <a:p>
            <a:pPr>
              <a:defRPr sz="1200">
                <a:solidFill>
                  <a:srgbClr val="1E293B"/>
                </a:solidFill>
              </a:defRPr>
            </a:pPr>
            <a:r>
              <a:t>• Logistic Regression (AUC = 0.8666) demonstrates superior separation between healthy and distressed students.</a:t>
            </a:r>
          </a:p>
          <a:p>
            <a:pPr>
              <a:defRPr sz="1200">
                <a:solidFill>
                  <a:srgbClr val="1E293B"/>
                </a:solidFill>
              </a:defRPr>
            </a:pPr>
            <a:r>
              <a:t>• Outperforms XGBoost (AUC = 0.8537) and Random Forest (AUC = 0.8444).</a:t>
            </a:r>
          </a:p>
          <a:p>
            <a:pPr>
              <a:defRPr sz="1200">
                <a:solidFill>
                  <a:srgbClr val="1E293B"/>
                </a:solidFill>
              </a:defRPr>
            </a:pPr>
            <a:r>
              <a:t>• Significantly outperforms the diagonal random guess baseline (AUC = 0.5000), proving high clinical reliability.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Behavioral Drivers of Student Depression (N = 27,901)</a:t>
            </a:r>
          </a:p>
        </p:txBody>
      </p:sp>
      <p:pic>
        <p:nvPicPr>
          <p:cNvPr id="4" name="Picture 3" descr="4_feature_importance_correlation.png"/>
          <p:cNvPicPr>
            <a:picLocks noChangeAspect="1"/>
          </p:cNvPicPr>
          <p:nvPr/>
        </p:nvPicPr>
        <p:blipFill>
          <a:blip r:embed="rId2"/>
          <a:stretch>
            <a:fillRect/>
          </a:stretch>
        </p:blipFill>
        <p:spPr>
          <a:xfrm>
            <a:off x="731520" y="1371600"/>
            <a:ext cx="6583680" cy="3950208"/>
          </a:xfrm>
          <a:prstGeom prst="rect">
            <a:avLst/>
          </a:prstGeom>
        </p:spPr>
      </p:pic>
      <p:sp>
        <p:nvSpPr>
          <p:cNvPr id="5" name="Rounded Rectangle 4"/>
          <p:cNvSpPr/>
          <p:nvPr/>
        </p:nvSpPr>
        <p:spPr>
          <a:xfrm>
            <a:off x="7589520" y="1371600"/>
            <a:ext cx="3840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554480"/>
            <a:ext cx="3474720" cy="4572000"/>
          </a:xfrm>
          <a:prstGeom prst="rect">
            <a:avLst/>
          </a:prstGeom>
          <a:noFill/>
        </p:spPr>
        <p:txBody>
          <a:bodyPr wrap="none">
            <a:spAutoFit/>
          </a:bodyPr>
          <a:lstStyle/>
          <a:p>
            <a:pPr>
              <a:defRPr sz="1600" b="1">
                <a:solidFill>
                  <a:srgbClr val="7209B7"/>
                </a:solidFill>
              </a:defRPr>
            </a:pPr>
            <a:r>
              <a:t>Key Behavioral Insights:</a:t>
            </a:r>
          </a:p>
          <a:p>
            <a:pPr>
              <a:defRPr sz="1200">
                <a:solidFill>
                  <a:srgbClr val="1E293B"/>
                </a:solidFill>
              </a:defRPr>
            </a:pPr>
            <a:r>
              <a:t>• Academic Pressure (r = +0.435): The single largest positive driver of student depression.</a:t>
            </a:r>
          </a:p>
          <a:p>
            <a:pPr>
              <a:defRPr sz="1200">
                <a:solidFill>
                  <a:srgbClr val="1E293B"/>
                </a:solidFill>
              </a:defRPr>
            </a:pPr>
            <a:r>
              <a:t>• Financial Stress (r = +0.312): Strongly amplifies academic anxiety, especially near tuition deadlines.</a:t>
            </a:r>
          </a:p>
          <a:p>
            <a:pPr>
              <a:defRPr sz="1200">
                <a:solidFill>
                  <a:srgbClr val="1E293B"/>
                </a:solidFill>
              </a:defRPr>
            </a:pPr>
            <a:r>
              <a:t>• Work/Study Hours (r = +0.285): Excess study without restorative sleep compounds cognitive fatigue.</a:t>
            </a:r>
          </a:p>
          <a:p>
            <a:pPr>
              <a:defRPr sz="1200">
                <a:solidFill>
                  <a:srgbClr val="1E293B"/>
                </a:solidFill>
              </a:defRPr>
            </a:pPr>
            <a:r>
              <a:t>• Study Satisfaction (r = -0.320): High engagement acts as the strongest protective psychological buffer.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DistilBERT NLP Deep Learning Emotion Engine</a:t>
            </a:r>
          </a:p>
        </p:txBody>
      </p:sp>
      <p:pic>
        <p:nvPicPr>
          <p:cNvPr id="4" name="Picture 3" descr="5_distilbert_emotion_analysis.png"/>
          <p:cNvPicPr>
            <a:picLocks noChangeAspect="1"/>
          </p:cNvPicPr>
          <p:nvPr/>
        </p:nvPicPr>
        <p:blipFill>
          <a:blip r:embed="rId2"/>
          <a:stretch>
            <a:fillRect/>
          </a:stretch>
        </p:blipFill>
        <p:spPr>
          <a:xfrm>
            <a:off x="731520" y="1371600"/>
            <a:ext cx="7315200" cy="2873829"/>
          </a:xfrm>
          <a:prstGeom prst="rect">
            <a:avLst/>
          </a:prstGeom>
        </p:spPr>
      </p:pic>
      <p:sp>
        <p:nvSpPr>
          <p:cNvPr id="5" name="Rounded Rectangle 4"/>
          <p:cNvSpPr/>
          <p:nvPr/>
        </p:nvSpPr>
        <p:spPr>
          <a:xfrm>
            <a:off x="8321040" y="1371600"/>
            <a:ext cx="31089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0" y="1554480"/>
            <a:ext cx="2743200" cy="4572000"/>
          </a:xfrm>
          <a:prstGeom prst="rect">
            <a:avLst/>
          </a:prstGeom>
          <a:noFill/>
        </p:spPr>
        <p:txBody>
          <a:bodyPr wrap="none">
            <a:spAutoFit/>
          </a:bodyPr>
          <a:lstStyle/>
          <a:p>
            <a:pPr>
              <a:defRPr sz="1600" b="1">
                <a:solidFill>
                  <a:srgbClr val="0284C7"/>
                </a:solidFill>
              </a:defRPr>
            </a:pPr>
            <a:r>
              <a:t>NLP Architecture:</a:t>
            </a:r>
          </a:p>
          <a:p>
            <a:pPr>
              <a:defRPr sz="1200">
                <a:solidFill>
                  <a:srgbClr val="1E293B"/>
                </a:solidFill>
              </a:defRPr>
            </a:pPr>
            <a:r>
              <a:t>• Model: distilbert-base-uncased-emotion.</a:t>
            </a:r>
          </a:p>
          <a:p>
            <a:pPr>
              <a:defRPr sz="1200">
                <a:solidFill>
                  <a:srgbClr val="1E293B"/>
                </a:solidFill>
              </a:defRPr>
            </a:pPr>
            <a:r>
              <a:t>• 6 Emotional Classes: Sadness, Fear, Anger, Joy, Love, Surprise.</a:t>
            </a:r>
          </a:p>
          <a:p>
            <a:pPr>
              <a:defRPr sz="1200">
                <a:solidFill>
                  <a:srgbClr val="1E293B"/>
                </a:solidFill>
              </a:defRPr>
            </a:pPr>
            <a:r>
              <a:t>• Singleton Design: Loaded once into shared RAM (~500MB) to conserve server memory.</a:t>
            </a:r>
          </a:p>
          <a:p>
            <a:pPr>
              <a:defRPr sz="1200">
                <a:solidFill>
                  <a:srgbClr val="1E293B"/>
                </a:solidFill>
              </a:defRPr>
            </a:pPr>
            <a:r>
              <a:t>• Gibberish Filter: Detects keyboard smashes and invalid word ratios before tokenization.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Conversational AI &amp; CrisisHandler Safety Protocol</a:t>
            </a: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572000"/>
          </a:xfrm>
          <a:prstGeom prst="rect">
            <a:avLst/>
          </a:prstGeom>
          <a:noFill/>
        </p:spPr>
        <p:txBody>
          <a:bodyPr wrap="none">
            <a:spAutoFit/>
          </a:bodyPr>
          <a:lstStyle/>
          <a:p>
            <a:pPr>
              <a:defRPr sz="1600" b="1">
                <a:solidFill>
                  <a:srgbClr val="0284C7"/>
                </a:solidFill>
              </a:defRPr>
            </a:pPr>
            <a:r>
              <a:t>Groq LPU + Llama 3.3 70B Versatile</a:t>
            </a:r>
          </a:p>
          <a:p>
            <a:pPr>
              <a:defRPr sz="1200">
                <a:solidFill>
                  <a:srgbClr val="1E293B"/>
                </a:solidFill>
              </a:defRPr>
            </a:pPr>
            <a:r>
              <a:t>• Sub-400ms Latency: Replaced slow 15-30s local Ollama execution with Groq's Language Processing Units.</a:t>
            </a:r>
          </a:p>
          <a:p>
            <a:pPr>
              <a:defRPr sz="1200">
                <a:solidFill>
                  <a:srgbClr val="1E293B"/>
                </a:solidFill>
              </a:defRPr>
            </a:pPr>
            <a:r>
              <a:t>• Contextual Memory (MemoryManager): Retains multi-turn session dialogue per authenticated student ID.</a:t>
            </a:r>
          </a:p>
          <a:p>
            <a:pPr>
              <a:defRPr sz="1200">
                <a:solidFill>
                  <a:srgbClr val="1E293B"/>
                </a:solidFill>
              </a:defRPr>
            </a:pPr>
            <a:r>
              <a:t>• WellnessCoach Loop: Classifies intent into venting, advice-seeking, and goal-planning modes.</a:t>
            </a:r>
          </a:p>
          <a:p>
            <a:pPr>
              <a:defRPr sz="1200">
                <a:solidFill>
                  <a:srgbClr val="1E293B"/>
                </a:solidFill>
              </a:defRPr>
            </a:pPr>
            <a:r>
              <a:t>• Strict Word Budget: Prompts capped to 160 tokens to deliver compact, actionable, empathetic answers.</a:t>
            </a:r>
          </a:p>
        </p:txBody>
      </p:sp>
      <p:sp>
        <p:nvSpPr>
          <p:cNvPr id="6" name="Rounded Rectangle 5"/>
          <p:cNvSpPr/>
          <p:nvPr/>
        </p:nvSpPr>
        <p:spPr>
          <a:xfrm>
            <a:off x="6217920" y="1371600"/>
            <a:ext cx="5212080" cy="493776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663440" cy="4572000"/>
          </a:xfrm>
          <a:prstGeom prst="rect">
            <a:avLst/>
          </a:prstGeom>
          <a:noFill/>
        </p:spPr>
        <p:txBody>
          <a:bodyPr wrap="none">
            <a:spAutoFit/>
          </a:bodyPr>
          <a:lstStyle/>
          <a:p>
            <a:pPr>
              <a:defRPr sz="1600" b="1">
                <a:solidFill>
                  <a:srgbClr val="EF4444"/>
                </a:solidFill>
              </a:defRPr>
            </a:pPr>
            <a:r>
              <a:t>The CrisisHandler Safety Net</a:t>
            </a:r>
          </a:p>
          <a:p>
            <a:pPr>
              <a:defRPr sz="1200">
                <a:solidFill>
                  <a:srgbClr val="1E293B"/>
                </a:solidFill>
              </a:defRPr>
            </a:pPr>
            <a:r>
              <a:t>• Pre-LLM Interception: Evaluates multi-tier regex patterns before the message ever reaches the AI.</a:t>
            </a:r>
          </a:p>
          <a:p>
            <a:pPr>
              <a:defRPr sz="1200">
                <a:solidFill>
                  <a:srgbClr val="1E293B"/>
                </a:solidFill>
              </a:defRPr>
            </a:pPr>
            <a:r>
              <a:t>• Immediate Generative Abort: Completely bypasses the LLM if self-harm or suicidal ideation is detected to eliminate hallucinations.</a:t>
            </a:r>
          </a:p>
          <a:p>
            <a:pPr>
              <a:defRPr sz="1200">
                <a:solidFill>
                  <a:srgbClr val="1E293B"/>
                </a:solidFill>
              </a:defRPr>
            </a:pPr>
            <a:r>
              <a:t>• Certified National Helplines Rendered:</a:t>
            </a:r>
          </a:p>
          <a:p>
            <a:pPr>
              <a:defRPr sz="1200">
                <a:solidFill>
                  <a:srgbClr val="1E293B"/>
                </a:solidFill>
              </a:defRPr>
            </a:pPr>
            <a:r>
              <a:t>•   - Tele-MANAS: 14416 / 1800-891-4416 (24/7 National)</a:t>
            </a:r>
          </a:p>
          <a:p>
            <a:pPr>
              <a:defRPr sz="1200">
                <a:solidFill>
                  <a:srgbClr val="1E293B"/>
                </a:solidFill>
              </a:defRPr>
            </a:pPr>
            <a:r>
              <a:t>•   - KIRAN: 1800-599-0019 (Govt. Rehabilitation)</a:t>
            </a:r>
          </a:p>
          <a:p>
            <a:pPr>
              <a:defRPr sz="1200">
                <a:solidFill>
                  <a:srgbClr val="1E293B"/>
                </a:solidFill>
              </a:defRPr>
            </a:pPr>
            <a:r>
              <a:t>•   - 988 Lifeline &amp; Crisis Text Line (HOME to 741741)</a:t>
            </a:r>
          </a:p>
          <a:p>
            <a:pPr>
              <a:defRPr sz="1200">
                <a:solidFill>
                  <a:srgbClr val="1E293B"/>
                </a:solidFill>
              </a:defRPr>
            </a:pPr>
            <a:r>
              <a:t>• One-Click Direct Dial: Instant phone dialer launch on mobile.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Live Specialist Geolocation &amp; Spatial Haversine Engine</a:t>
            </a:r>
          </a:p>
        </p:txBody>
      </p:sp>
      <p:pic>
        <p:nvPicPr>
          <p:cNvPr id="4" name="Picture 3" descr="6_spatial_haversine_radius.png"/>
          <p:cNvPicPr>
            <a:picLocks noChangeAspect="1"/>
          </p:cNvPicPr>
          <p:nvPr/>
        </p:nvPicPr>
        <p:blipFill>
          <a:blip r:embed="rId2"/>
          <a:stretch>
            <a:fillRect/>
          </a:stretch>
        </p:blipFill>
        <p:spPr>
          <a:xfrm>
            <a:off x="731520" y="1371600"/>
            <a:ext cx="6217920" cy="3799840"/>
          </a:xfrm>
          <a:prstGeom prst="rect">
            <a:avLst/>
          </a:prstGeom>
        </p:spPr>
      </p:pic>
      <p:sp>
        <p:nvSpPr>
          <p:cNvPr id="5" name="Rounded Rectangle 4"/>
          <p:cNvSpPr/>
          <p:nvPr/>
        </p:nvSpPr>
        <p:spPr>
          <a:xfrm>
            <a:off x="7223760" y="137160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4572000"/>
          </a:xfrm>
          <a:prstGeom prst="rect">
            <a:avLst/>
          </a:prstGeom>
          <a:noFill/>
        </p:spPr>
        <p:txBody>
          <a:bodyPr wrap="none">
            <a:spAutoFit/>
          </a:bodyPr>
          <a:lstStyle/>
          <a:p>
            <a:pPr>
              <a:defRPr sz="1600" b="1">
                <a:solidFill>
                  <a:srgbClr val="10B981"/>
                </a:solidFill>
              </a:defRPr>
            </a:pPr>
            <a:r>
              <a:t>Spatial Referral Logic:</a:t>
            </a:r>
          </a:p>
          <a:p>
            <a:pPr>
              <a:defRPr sz="1200">
                <a:solidFill>
                  <a:srgbClr val="1E293B"/>
                </a:solidFill>
              </a:defRPr>
            </a:pPr>
            <a:r>
              <a:t>• HTML5 GPS Auto-Detection: Captures student coordinates on page load via navigator.geolocation.</a:t>
            </a:r>
          </a:p>
          <a:p>
            <a:pPr>
              <a:defRPr sz="1200">
                <a:solidFill>
                  <a:srgbClr val="1E293B"/>
                </a:solidFill>
              </a:defRPr>
            </a:pPr>
            <a:r>
              <a:t>• Google Places API (New): Queries places.googleapis.com with field masks (displayName, rating, formattedAddress).</a:t>
            </a:r>
          </a:p>
          <a:p>
            <a:pPr>
              <a:defRPr sz="1200">
                <a:solidFill>
                  <a:srgbClr val="1E293B"/>
                </a:solidFill>
              </a:defRPr>
            </a:pPr>
            <a:r>
              <a:t>• Haversine Great-Circle Formula: Computes true spherical distance over Earth's curvature (R = 6,371 km).</a:t>
            </a:r>
          </a:p>
          <a:p>
            <a:pPr>
              <a:defRPr sz="1200">
                <a:solidFill>
                  <a:srgbClr val="1E293B"/>
                </a:solidFill>
              </a:defRPr>
            </a:pPr>
            <a:r>
              <a:t>• Strict &lt;= 100 km Radius Cap: If Google Places hits rate limits (HTTP 429), our local database activates, strictly filtering out clinics &gt; 100 km.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Enterprise Security, PyJWT &amp; The Brevo HTTPS Driver</a:t>
            </a:r>
          </a:p>
        </p:txBody>
      </p:sp>
      <p:sp>
        <p:nvSpPr>
          <p:cNvPr id="4" name="Rounded Rectangle 3"/>
          <p:cNvSpPr/>
          <p:nvPr/>
        </p:nvSpPr>
        <p:spPr>
          <a:xfrm>
            <a:off x="731520" y="146304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828800"/>
          </a:xfrm>
          <a:prstGeom prst="rect">
            <a:avLst/>
          </a:prstGeom>
          <a:noFill/>
        </p:spPr>
        <p:txBody>
          <a:bodyPr wrap="none">
            <a:spAutoFit/>
          </a:bodyPr>
          <a:lstStyle/>
          <a:p>
            <a:pPr>
              <a:defRPr sz="1600" b="1">
                <a:solidFill>
                  <a:srgbClr val="0284C7"/>
                </a:solidFill>
              </a:defRPr>
            </a:pPr>
            <a:r>
              <a:t>Bcrypt (12 Salt Rounds)</a:t>
            </a:r>
          </a:p>
          <a:p>
            <a:pPr>
              <a:defRPr sz="1200">
                <a:solidFill>
                  <a:srgbClr val="1E293B"/>
                </a:solidFill>
              </a:defRPr>
            </a:pPr>
            <a:r>
              <a:t>Hashes passwords using 4,096 Blowfish iterations ($2^{12}$). Hardware brute-force attacks take millennia.</a:t>
            </a:r>
          </a:p>
        </p:txBody>
      </p:sp>
      <p:sp>
        <p:nvSpPr>
          <p:cNvPr id="6" name="Rounded Rectangle 5"/>
          <p:cNvSpPr/>
          <p:nvPr/>
        </p:nvSpPr>
        <p:spPr>
          <a:xfrm>
            <a:off x="6126480" y="146304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4754880" cy="1828800"/>
          </a:xfrm>
          <a:prstGeom prst="rect">
            <a:avLst/>
          </a:prstGeom>
          <a:noFill/>
        </p:spPr>
        <p:txBody>
          <a:bodyPr wrap="none">
            <a:spAutoFit/>
          </a:bodyPr>
          <a:lstStyle/>
          <a:p>
            <a:pPr>
              <a:defRPr sz="1600" b="1">
                <a:solidFill>
                  <a:srgbClr val="7209B7"/>
                </a:solidFill>
              </a:defRPr>
            </a:pPr>
            <a:r>
              <a:t>Stateless PyJWT Tokens</a:t>
            </a:r>
          </a:p>
          <a:p>
            <a:pPr>
              <a:defRPr sz="1200">
                <a:solidFill>
                  <a:srgbClr val="1E293B"/>
                </a:solidFill>
              </a:defRPr>
            </a:pPr>
            <a:r>
              <a:t>Signed with HS256, 24-hour expiration. Eliminates server session memory bottlenecks and scales horizontally.</a:t>
            </a:r>
          </a:p>
        </p:txBody>
      </p:sp>
      <p:sp>
        <p:nvSpPr>
          <p:cNvPr id="8" name="Rounded Rectangle 7"/>
          <p:cNvSpPr/>
          <p:nvPr/>
        </p:nvSpPr>
        <p:spPr>
          <a:xfrm>
            <a:off x="731520" y="393192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754880" cy="1828800"/>
          </a:xfrm>
          <a:prstGeom prst="rect">
            <a:avLst/>
          </a:prstGeom>
          <a:noFill/>
        </p:spPr>
        <p:txBody>
          <a:bodyPr wrap="none">
            <a:spAutoFit/>
          </a:bodyPr>
          <a:lstStyle/>
          <a:p>
            <a:pPr>
              <a:defRPr sz="1600" b="1">
                <a:solidFill>
                  <a:srgbClr val="10B981"/>
                </a:solidFill>
              </a:defRPr>
            </a:pPr>
            <a:r>
              <a:t>Brevo HTTPS REST API</a:t>
            </a:r>
          </a:p>
          <a:p>
            <a:pPr>
              <a:defRPr sz="1200">
                <a:solidFill>
                  <a:srgbClr val="1E293B"/>
                </a:solidFill>
              </a:defRPr>
            </a:pPr>
            <a:r>
              <a:t>Bypasses Render/cloud SMTP port blocking (ports 25, 465, 587) by sending verification OTPs over HTTPS port 443.</a:t>
            </a:r>
          </a:p>
        </p:txBody>
      </p:sp>
      <p:sp>
        <p:nvSpPr>
          <p:cNvPr id="10" name="Rounded Rectangle 9"/>
          <p:cNvSpPr/>
          <p:nvPr/>
        </p:nvSpPr>
        <p:spPr>
          <a:xfrm>
            <a:off x="6126480" y="393192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114800"/>
            <a:ext cx="4754880" cy="1828800"/>
          </a:xfrm>
          <a:prstGeom prst="rect">
            <a:avLst/>
          </a:prstGeom>
          <a:noFill/>
        </p:spPr>
        <p:txBody>
          <a:bodyPr wrap="none">
            <a:spAutoFit/>
          </a:bodyPr>
          <a:lstStyle/>
          <a:p>
            <a:pPr>
              <a:defRPr sz="1600" b="1">
                <a:solidFill>
                  <a:srgbClr val="EF4444"/>
                </a:solidFill>
              </a:defRPr>
            </a:pPr>
            <a:r>
              <a:t>MongoDB TTL 5-Min Index</a:t>
            </a:r>
          </a:p>
          <a:p>
            <a:pPr>
              <a:defRPr sz="1200">
                <a:solidFill>
                  <a:srgbClr val="1E293B"/>
                </a:solidFill>
              </a:defRPr>
            </a:pPr>
            <a:r>
              <a:t>db.otp_codes.create_index('created_at', expireAfterSeconds=300) auto-deletes expired OTPs at the database engine level.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Student Analytics Dashboard &amp; 30-Day Mood Heatmap</a:t>
            </a:r>
          </a:p>
        </p:txBody>
      </p:sp>
      <p:sp>
        <p:nvSpPr>
          <p:cNvPr id="4" name="Rounded Rectangle 3"/>
          <p:cNvSpPr/>
          <p:nvPr/>
        </p:nvSpPr>
        <p:spPr>
          <a:xfrm>
            <a:off x="731520" y="1371600"/>
            <a:ext cx="10698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389120"/>
          </a:xfrm>
          <a:prstGeom prst="rect">
            <a:avLst/>
          </a:prstGeom>
          <a:noFill/>
        </p:spPr>
        <p:txBody>
          <a:bodyPr wrap="none">
            <a:spAutoFit/>
          </a:bodyPr>
          <a:lstStyle/>
          <a:p>
            <a:pPr>
              <a:defRPr sz="1800" b="1">
                <a:solidFill>
                  <a:srgbClr val="0284C7"/>
                </a:solidFill>
              </a:defRPr>
            </a:pPr>
            <a:r>
              <a:t>Longitudinal Mental Health Tracking &amp; Analytics:</a:t>
            </a:r>
          </a:p>
          <a:p>
            <a:pPr>
              <a:defRPr sz="1300">
                <a:solidFill>
                  <a:srgbClr val="1E293B"/>
                </a:solidFill>
              </a:defRPr>
            </a:pPr>
            <a:r>
              <a:t>• GitHub-Style Contribution Heatmap: Renders a 30-day interactive grid coloring daily emotional check-ins from dark restless blue to vibrant balanced green.</a:t>
            </a:r>
          </a:p>
          <a:p>
            <a:pPr>
              <a:defRPr sz="1300">
                <a:solidFill>
                  <a:srgbClr val="1E293B"/>
                </a:solidFill>
              </a:defRPr>
            </a:pPr>
            <a:r>
              <a:t>• Click-to-Inspect Historic Logs: Students can click any previous day to inspect past sentiment distributions, journal snippets, and sleep parameters.</a:t>
            </a:r>
          </a:p>
          <a:p>
            <a:pPr>
              <a:defRPr sz="1300">
                <a:solidFill>
                  <a:srgbClr val="1E293B"/>
                </a:solidFill>
              </a:defRPr>
            </a:pPr>
            <a:r>
              <a:t>• Interactive Chart.js Visualizations: Dynamic radar charts comparing academic workload vs sleep hygiene and sentiment pie charts.</a:t>
            </a:r>
          </a:p>
          <a:p>
            <a:pPr>
              <a:defRPr sz="1300">
                <a:solidFill>
                  <a:srgbClr val="1E293B"/>
                </a:solidFill>
              </a:defRPr>
            </a:pPr>
            <a:r>
              <a:t>• Mindfulness &amp; Grounding Audio Suite: Integrated breathing visualizer and progressive muscle relaxation audio clips to calm acute panic attacks.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Empirical Quality Assurance — 175 Automated Pytests</a:t>
            </a:r>
          </a:p>
        </p:txBody>
      </p:sp>
      <p:sp>
        <p:nvSpPr>
          <p:cNvPr id="4" name="Rounded Rectangle 3"/>
          <p:cNvSpPr/>
          <p:nvPr/>
        </p:nvSpPr>
        <p:spPr>
          <a:xfrm>
            <a:off x="731520" y="1371600"/>
            <a:ext cx="3291840" cy="1828800"/>
          </a:xfrm>
          <a:prstGeom prst="roundRect">
            <a:avLst/>
          </a:prstGeom>
          <a:solidFill>
            <a:srgbClr val="F0FDF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2926080" cy="1554480"/>
          </a:xfrm>
          <a:prstGeom prst="rect">
            <a:avLst/>
          </a:prstGeom>
          <a:noFill/>
        </p:spPr>
        <p:txBody>
          <a:bodyPr wrap="none">
            <a:spAutoFit/>
          </a:bodyPr>
          <a:lstStyle/>
          <a:p>
            <a:pPr>
              <a:defRPr sz="3600" b="1">
                <a:solidFill>
                  <a:srgbClr val="10B981"/>
                </a:solidFill>
              </a:defRPr>
            </a:pPr>
            <a:r>
              <a:t>175 / 175</a:t>
            </a:r>
          </a:p>
          <a:p>
            <a:pPr>
              <a:defRPr sz="1300" b="1"/>
            </a:pPr>
            <a:r>
              <a:t>Tests Passed (100% Success Rate)</a:t>
            </a:r>
          </a:p>
        </p:txBody>
      </p:sp>
      <p:sp>
        <p:nvSpPr>
          <p:cNvPr id="6" name="Rounded Rectangle 5"/>
          <p:cNvSpPr/>
          <p:nvPr/>
        </p:nvSpPr>
        <p:spPr>
          <a:xfrm>
            <a:off x="4389120" y="1371600"/>
            <a:ext cx="32918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08760"/>
            <a:ext cx="2926080" cy="1554480"/>
          </a:xfrm>
          <a:prstGeom prst="rect">
            <a:avLst/>
          </a:prstGeom>
          <a:noFill/>
        </p:spPr>
        <p:txBody>
          <a:bodyPr wrap="none">
            <a:spAutoFit/>
          </a:bodyPr>
          <a:lstStyle/>
          <a:p>
            <a:pPr>
              <a:defRPr sz="3600" b="1">
                <a:solidFill>
                  <a:srgbClr val="0284C7"/>
                </a:solidFill>
              </a:defRPr>
            </a:pPr>
            <a:r>
              <a:t>20.67s</a:t>
            </a:r>
          </a:p>
          <a:p>
            <a:pPr>
              <a:defRPr sz="1300"/>
            </a:pPr>
            <a:r>
              <a:t>Total Test Suite Execution Time</a:t>
            </a:r>
          </a:p>
        </p:txBody>
      </p:sp>
      <p:sp>
        <p:nvSpPr>
          <p:cNvPr id="8" name="Rounded Rectangle 7"/>
          <p:cNvSpPr/>
          <p:nvPr/>
        </p:nvSpPr>
        <p:spPr>
          <a:xfrm>
            <a:off x="8046720" y="1371600"/>
            <a:ext cx="32918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08760"/>
            <a:ext cx="2926080" cy="1554480"/>
          </a:xfrm>
          <a:prstGeom prst="rect">
            <a:avLst/>
          </a:prstGeom>
          <a:noFill/>
        </p:spPr>
        <p:txBody>
          <a:bodyPr wrap="none">
            <a:spAutoFit/>
          </a:bodyPr>
          <a:lstStyle/>
          <a:p>
            <a:pPr>
              <a:defRPr sz="3600" b="1">
                <a:solidFill>
                  <a:srgbClr val="EF4444"/>
                </a:solidFill>
              </a:defRPr>
            </a:pPr>
            <a:r>
              <a:t>0</a:t>
            </a:r>
          </a:p>
          <a:p>
            <a:pPr>
              <a:defRPr sz="1300"/>
            </a:pPr>
            <a:r>
              <a:t>Regression Errors or Failures</a:t>
            </a:r>
          </a:p>
        </p:txBody>
      </p:sp>
      <p:sp>
        <p:nvSpPr>
          <p:cNvPr id="10" name="Rounded Rectangle 9"/>
          <p:cNvSpPr/>
          <p:nvPr/>
        </p:nvSpPr>
        <p:spPr>
          <a:xfrm>
            <a:off x="731520" y="3474720"/>
            <a:ext cx="1060704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57600"/>
            <a:ext cx="10058400" cy="2468880"/>
          </a:xfrm>
          <a:prstGeom prst="rect">
            <a:avLst/>
          </a:prstGeom>
          <a:noFill/>
        </p:spPr>
        <p:txBody>
          <a:bodyPr wrap="none">
            <a:spAutoFit/>
          </a:bodyPr>
          <a:lstStyle/>
          <a:p>
            <a:pPr>
              <a:defRPr sz="1500" b="1">
                <a:solidFill>
                  <a:srgbClr val="1E293B"/>
                </a:solidFill>
              </a:defRPr>
            </a:pPr>
            <a:r>
              <a:t>Automated Test Coverage Scope (backend/tests/test_pytest_unit.py):</a:t>
            </a:r>
          </a:p>
          <a:p>
            <a:pPr>
              <a:defRPr sz="1200">
                <a:solidFill>
                  <a:srgbClr val="64748B"/>
                </a:solidFill>
              </a:defRPr>
            </a:pPr>
            <a:r>
              <a:t>• Authentication &amp; Security: Bcrypt hashing, token issuance, 24h expiration, malformed signature rejection.</a:t>
            </a:r>
          </a:p>
          <a:p>
            <a:pPr>
              <a:defRPr sz="1200">
                <a:solidFill>
                  <a:srgbClr val="64748B"/>
                </a:solidFill>
              </a:defRPr>
            </a:pPr>
            <a:r>
              <a:t>• ML Diagnostic Pipelines: DistilBERT singleton inference, linguistic gibberish detection, Logistic Regression risk tiers.</a:t>
            </a:r>
          </a:p>
          <a:p>
            <a:pPr>
              <a:defRPr sz="1200">
                <a:solidFill>
                  <a:srgbClr val="64748B"/>
                </a:solidFill>
              </a:defRPr>
            </a:pPr>
            <a:r>
              <a:t>• CrisisHandler Safety Net: Regex pattern matching, immediate LLM bypass, national helpline card rendering.</a:t>
            </a:r>
          </a:p>
          <a:p>
            <a:pPr>
              <a:defRPr sz="1200">
                <a:solidFill>
                  <a:srgbClr val="64748B"/>
                </a:solidFill>
              </a:defRPr>
            </a:pPr>
            <a:r>
              <a:t>• Spatial Haversine Calculations: Distance accuracy, coordinate validation, strict &lt;= 100 km boundary enforcement.</a:t>
            </a:r>
          </a:p>
          <a:p>
            <a:pPr>
              <a:defRPr sz="1200">
                <a:solidFill>
                  <a:srgbClr val="64748B"/>
                </a:solidFill>
              </a:defRPr>
            </a:pPr>
            <a:r>
              <a:t>• Database Resilience: MongoDB collection indexing constraints, TTL OTP self-deletion, and mongomock in-memory fallbacks.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Key Engineering Challenges Overcome</a:t>
            </a:r>
          </a:p>
        </p:txBody>
      </p:sp>
      <p:sp>
        <p:nvSpPr>
          <p:cNvPr id="4" name="Rounded Rectangle 3"/>
          <p:cNvSpPr/>
          <p:nvPr/>
        </p:nvSpPr>
        <p:spPr>
          <a:xfrm>
            <a:off x="731520" y="137160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10149840" cy="1280160"/>
          </a:xfrm>
          <a:prstGeom prst="rect">
            <a:avLst/>
          </a:prstGeom>
          <a:noFill/>
        </p:spPr>
        <p:txBody>
          <a:bodyPr wrap="none">
            <a:spAutoFit/>
          </a:bodyPr>
          <a:lstStyle/>
          <a:p>
            <a:pPr>
              <a:defRPr sz="1500" b="1">
                <a:solidFill>
                  <a:srgbClr val="0284C7"/>
                </a:solidFill>
              </a:defRPr>
            </a:pPr>
            <a:r>
              <a:t>1. Cloud SMTP Port Blocking</a:t>
            </a:r>
          </a:p>
          <a:p>
            <a:pPr>
              <a:defRPr sz="1200">
                <a:solidFill>
                  <a:srgbClr val="EF4444"/>
                </a:solidFill>
              </a:defRPr>
            </a:pPr>
            <a:r>
              <a:t>Problem: Render &amp; AWS block outbound ports 25, 465, 587. Attempting SMTP led to [Errno 101] Network unreachable.</a:t>
            </a:r>
          </a:p>
          <a:p>
            <a:pPr>
              <a:defRPr sz="1200">
                <a:solidFill>
                  <a:srgbClr val="10B981"/>
                </a:solidFill>
              </a:defRPr>
            </a:pPr>
            <a:r>
              <a:t>Solution: Engineered a custom Brevo REST API email driver sending transactional OTPs over HTTPS port 443.</a:t>
            </a:r>
          </a:p>
        </p:txBody>
      </p:sp>
      <p:sp>
        <p:nvSpPr>
          <p:cNvPr id="6" name="Rounded Rectangle 5"/>
          <p:cNvSpPr/>
          <p:nvPr/>
        </p:nvSpPr>
        <p:spPr>
          <a:xfrm>
            <a:off x="731520" y="301752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108960"/>
            <a:ext cx="10149840" cy="1280160"/>
          </a:xfrm>
          <a:prstGeom prst="rect">
            <a:avLst/>
          </a:prstGeom>
          <a:noFill/>
        </p:spPr>
        <p:txBody>
          <a:bodyPr wrap="none">
            <a:spAutoFit/>
          </a:bodyPr>
          <a:lstStyle/>
          <a:p>
            <a:pPr>
              <a:defRPr sz="1500" b="1">
                <a:solidFill>
                  <a:srgbClr val="7209B7"/>
                </a:solidFill>
              </a:defRPr>
            </a:pPr>
            <a:r>
              <a:t>2. Google Places API Rate Limits</a:t>
            </a:r>
          </a:p>
          <a:p>
            <a:pPr>
              <a:defRPr sz="1200">
                <a:solidFill>
                  <a:srgbClr val="EF4444"/>
                </a:solidFill>
              </a:defRPr>
            </a:pPr>
            <a:r>
              <a:t>Problem: Daily unbilled quota exhaustion (HTTP 429) caused API dropouts during high-frequency testing.</a:t>
            </a:r>
          </a:p>
          <a:p>
            <a:pPr>
              <a:defRPr sz="1200">
                <a:solidFill>
                  <a:srgbClr val="10B981"/>
                </a:solidFill>
              </a:defRPr>
            </a:pPr>
            <a:r>
              <a:t>Solution: Created a local MongoDB fallback database with Haversine filtering strictly capped to &lt;= 100 km.</a:t>
            </a:r>
          </a:p>
        </p:txBody>
      </p:sp>
      <p:sp>
        <p:nvSpPr>
          <p:cNvPr id="8" name="Rounded Rectangle 7"/>
          <p:cNvSpPr/>
          <p:nvPr/>
        </p:nvSpPr>
        <p:spPr>
          <a:xfrm>
            <a:off x="731520" y="466344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149840" cy="1280160"/>
          </a:xfrm>
          <a:prstGeom prst="rect">
            <a:avLst/>
          </a:prstGeom>
          <a:noFill/>
        </p:spPr>
        <p:txBody>
          <a:bodyPr wrap="none">
            <a:spAutoFit/>
          </a:bodyPr>
          <a:lstStyle/>
          <a:p>
            <a:pPr>
              <a:defRPr sz="1500" b="1">
                <a:solidFill>
                  <a:srgbClr val="10B981"/>
                </a:solidFill>
              </a:defRPr>
            </a:pPr>
            <a:r>
              <a:t>3. Local LLM Latency (15-30s)</a:t>
            </a:r>
          </a:p>
          <a:p>
            <a:pPr>
              <a:defRPr sz="1200">
                <a:solidFill>
                  <a:srgbClr val="EF4444"/>
                </a:solidFill>
              </a:defRPr>
            </a:pPr>
            <a:r>
              <a:t>Problem: Running 70B/7B models on local laptops caused high latency, spinning fans, and degraded user experience.</a:t>
            </a:r>
          </a:p>
          <a:p>
            <a:pPr>
              <a:defRPr sz="1200">
                <a:solidFill>
                  <a:srgbClr val="10B981"/>
                </a:solidFill>
              </a:defRPr>
            </a:pPr>
            <a:r>
              <a:t>Solution: Integrated Groq LPUs running Llama 3.3 70B, reducing response latency to sub-400 milliseconds.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Step-by-Step Live Demonstration Protocol</a:t>
            </a:r>
          </a:p>
        </p:txBody>
      </p:sp>
      <p:sp>
        <p:nvSpPr>
          <p:cNvPr id="4" name="Rounded Rectangle 3"/>
          <p:cNvSpPr/>
          <p:nvPr/>
        </p:nvSpPr>
        <p:spPr>
          <a:xfrm>
            <a:off x="731520" y="1463040"/>
            <a:ext cx="51206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1188720"/>
          </a:xfrm>
          <a:prstGeom prst="rect">
            <a:avLst/>
          </a:prstGeom>
          <a:noFill/>
        </p:spPr>
        <p:txBody>
          <a:bodyPr wrap="none">
            <a:spAutoFit/>
          </a:bodyPr>
          <a:lstStyle/>
          <a:p>
            <a:pPr>
              <a:defRPr sz="1400" b="1">
                <a:solidFill>
                  <a:srgbClr val="0284C7"/>
                </a:solidFill>
              </a:defRPr>
            </a:pPr>
            <a:r>
              <a:t>1. Launch &amp; UI Walkthrough</a:t>
            </a:r>
          </a:p>
          <a:p>
            <a:pPr>
              <a:defRPr sz="1100">
                <a:solidFill>
                  <a:srgbClr val="1E293B"/>
                </a:solidFill>
              </a:defRPr>
            </a:pPr>
            <a:r>
              <a:t>Show Vite server on http://localhost:3000/ and Flask on http://127.0.0.1:5000/. Tour the glassmorphic dark theme.</a:t>
            </a:r>
          </a:p>
        </p:txBody>
      </p:sp>
      <p:sp>
        <p:nvSpPr>
          <p:cNvPr id="6" name="Rounded Rectangle 5"/>
          <p:cNvSpPr/>
          <p:nvPr/>
        </p:nvSpPr>
        <p:spPr>
          <a:xfrm>
            <a:off x="6126480" y="1463040"/>
            <a:ext cx="51206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00200"/>
            <a:ext cx="4754880" cy="1188720"/>
          </a:xfrm>
          <a:prstGeom prst="rect">
            <a:avLst/>
          </a:prstGeom>
          <a:noFill/>
        </p:spPr>
        <p:txBody>
          <a:bodyPr wrap="none">
            <a:spAutoFit/>
          </a:bodyPr>
          <a:lstStyle/>
          <a:p>
            <a:pPr>
              <a:defRPr sz="1400" b="1">
                <a:solidFill>
                  <a:srgbClr val="0284C7"/>
                </a:solidFill>
              </a:defRPr>
            </a:pPr>
            <a:r>
              <a:t>2. Signup &amp; Password Checklist</a:t>
            </a:r>
          </a:p>
          <a:p>
            <a:pPr>
              <a:defRPr sz="1100">
                <a:solidFill>
                  <a:srgbClr val="1E293B"/>
                </a:solidFill>
              </a:defRPr>
            </a:pPr>
            <a:r>
              <a:t>Show real-time visual checklist validation enforcing 8+ characters, uppercase, lowercase, and numbers.</a:t>
            </a:r>
          </a:p>
        </p:txBody>
      </p:sp>
      <p:sp>
        <p:nvSpPr>
          <p:cNvPr id="8" name="Rounded Rectangle 7"/>
          <p:cNvSpPr/>
          <p:nvPr/>
        </p:nvSpPr>
        <p:spPr>
          <a:xfrm>
            <a:off x="731520" y="3108960"/>
            <a:ext cx="51206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46120"/>
            <a:ext cx="4754880" cy="1188720"/>
          </a:xfrm>
          <a:prstGeom prst="rect">
            <a:avLst/>
          </a:prstGeom>
          <a:noFill/>
        </p:spPr>
        <p:txBody>
          <a:bodyPr wrap="none">
            <a:spAutoFit/>
          </a:bodyPr>
          <a:lstStyle/>
          <a:p>
            <a:pPr>
              <a:defRPr sz="1400" b="1">
                <a:solidFill>
                  <a:srgbClr val="0284C7"/>
                </a:solidFill>
              </a:defRPr>
            </a:pPr>
            <a:r>
              <a:t>3. Mental Health Scanner</a:t>
            </a:r>
          </a:p>
          <a:p>
            <a:pPr>
              <a:defRPr sz="1100">
                <a:solidFill>
                  <a:srgbClr val="1E293B"/>
                </a:solidFill>
              </a:defRPr>
            </a:pPr>
            <a:r>
              <a:t>Enter journal: 'Exam pressure is overwhelming, haven't slept'. Show sub-second dual ML risk scoring and coping tips.</a:t>
            </a:r>
          </a:p>
        </p:txBody>
      </p:sp>
      <p:sp>
        <p:nvSpPr>
          <p:cNvPr id="10" name="Rounded Rectangle 9"/>
          <p:cNvSpPr/>
          <p:nvPr/>
        </p:nvSpPr>
        <p:spPr>
          <a:xfrm>
            <a:off x="6126480" y="3108960"/>
            <a:ext cx="51206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246120"/>
            <a:ext cx="4754880" cy="1188720"/>
          </a:xfrm>
          <a:prstGeom prst="rect">
            <a:avLst/>
          </a:prstGeom>
          <a:noFill/>
        </p:spPr>
        <p:txBody>
          <a:bodyPr wrap="none">
            <a:spAutoFit/>
          </a:bodyPr>
          <a:lstStyle/>
          <a:p>
            <a:pPr>
              <a:defRPr sz="1400" b="1">
                <a:solidFill>
                  <a:srgbClr val="0284C7"/>
                </a:solidFill>
              </a:defRPr>
            </a:pPr>
            <a:r>
              <a:t>4. Chatbot Coaching Demo</a:t>
            </a:r>
          </a:p>
          <a:p>
            <a:pPr>
              <a:defRPr sz="1100">
                <a:solidFill>
                  <a:srgbClr val="1E293B"/>
                </a:solidFill>
              </a:defRPr>
            </a:pPr>
            <a:r>
              <a:t>Ask for study grounding tips; demonstrate sub-400ms Llama 3.3 70B response formatting.</a:t>
            </a:r>
          </a:p>
        </p:txBody>
      </p:sp>
      <p:sp>
        <p:nvSpPr>
          <p:cNvPr id="12" name="Rounded Rectangle 11"/>
          <p:cNvSpPr/>
          <p:nvPr/>
        </p:nvSpPr>
        <p:spPr>
          <a:xfrm>
            <a:off x="731520" y="4754880"/>
            <a:ext cx="51206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92040"/>
            <a:ext cx="4754880" cy="1188720"/>
          </a:xfrm>
          <a:prstGeom prst="rect">
            <a:avLst/>
          </a:prstGeom>
          <a:noFill/>
        </p:spPr>
        <p:txBody>
          <a:bodyPr wrap="none">
            <a:spAutoFit/>
          </a:bodyPr>
          <a:lstStyle/>
          <a:p>
            <a:pPr>
              <a:defRPr sz="1400" b="1">
                <a:solidFill>
                  <a:srgbClr val="0284C7"/>
                </a:solidFill>
              </a:defRPr>
            </a:pPr>
            <a:r>
              <a:t>5. The Killer Crisis Demo</a:t>
            </a:r>
          </a:p>
          <a:p>
            <a:pPr>
              <a:defRPr sz="1100">
                <a:solidFill>
                  <a:srgbClr val="1E293B"/>
                </a:solidFill>
              </a:defRPr>
            </a:pPr>
            <a:r>
              <a:t>Type: 'I feel hopeless and want to end it all'. Show immediate CrisisHandler bypass and Tele-MANAS (14416) escalation.</a:t>
            </a:r>
          </a:p>
        </p:txBody>
      </p:sp>
      <p:sp>
        <p:nvSpPr>
          <p:cNvPr id="14" name="Rounded Rectangle 13"/>
          <p:cNvSpPr/>
          <p:nvPr/>
        </p:nvSpPr>
        <p:spPr>
          <a:xfrm>
            <a:off x="6126480" y="4754880"/>
            <a:ext cx="51206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892040"/>
            <a:ext cx="4754880" cy="1188720"/>
          </a:xfrm>
          <a:prstGeom prst="rect">
            <a:avLst/>
          </a:prstGeom>
          <a:noFill/>
        </p:spPr>
        <p:txBody>
          <a:bodyPr wrap="none">
            <a:spAutoFit/>
          </a:bodyPr>
          <a:lstStyle/>
          <a:p>
            <a:pPr>
              <a:defRPr sz="1400" b="1">
                <a:solidFill>
                  <a:srgbClr val="0284C7"/>
                </a:solidFill>
              </a:defRPr>
            </a:pPr>
            <a:r>
              <a:t>6. Doctor Geolocation</a:t>
            </a:r>
          </a:p>
          <a:p>
            <a:pPr>
              <a:defRPr sz="1100">
                <a:solidFill>
                  <a:srgbClr val="1E293B"/>
                </a:solidFill>
              </a:defRPr>
            </a:pPr>
            <a:r>
              <a:t>Demonstrate HTML5 GPS detection pulling verified Jaipur psychiatrists with live ratings and Haversine distance badges.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100" b="1">
                <a:solidFill>
                  <a:srgbClr val="0284C7"/>
                </a:solidFill>
              </a:defRPr>
            </a:pPr>
            <a:r>
              <a:t>AIRA • PRACTICE SCHOOL-I DEFENSE</a:t>
            </a:r>
          </a:p>
        </p:txBody>
      </p:sp>
      <p:sp>
        <p:nvSpPr>
          <p:cNvPr id="3" name="TextBox 2"/>
          <p:cNvSpPr txBox="1"/>
          <p:nvPr/>
        </p:nvSpPr>
        <p:spPr>
          <a:xfrm>
            <a:off x="731520" y="594360"/>
            <a:ext cx="10698480" cy="640080"/>
          </a:xfrm>
          <a:prstGeom prst="rect">
            <a:avLst/>
          </a:prstGeom>
          <a:noFill/>
        </p:spPr>
        <p:txBody>
          <a:bodyPr wrap="square">
            <a:spAutoFit/>
          </a:bodyPr>
          <a:lstStyle/>
          <a:p>
            <a:pPr>
              <a:defRPr sz="2200" b="1">
                <a:solidFill>
                  <a:srgbClr val="1E293B"/>
                </a:solidFill>
              </a:defRPr>
            </a:pPr>
            <a:r>
              <a:t>Future Scope &amp; Production Roadmap</a:t>
            </a:r>
          </a:p>
        </p:txBody>
      </p:sp>
      <p:sp>
        <p:nvSpPr>
          <p:cNvPr id="4" name="Rounded Rectangle 3"/>
          <p:cNvSpPr/>
          <p:nvPr/>
        </p:nvSpPr>
        <p:spPr>
          <a:xfrm>
            <a:off x="731520" y="1371600"/>
            <a:ext cx="10698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389120"/>
          </a:xfrm>
          <a:prstGeom prst="rect">
            <a:avLst/>
          </a:prstGeom>
          <a:noFill/>
        </p:spPr>
        <p:txBody>
          <a:bodyPr wrap="none">
            <a:spAutoFit/>
          </a:bodyPr>
          <a:lstStyle/>
          <a:p>
            <a:pPr>
              <a:defRPr sz="1800" b="1">
                <a:solidFill>
                  <a:srgbClr val="0284C7"/>
                </a:solidFill>
              </a:defRPr>
            </a:pPr>
            <a:r>
              <a:t>Strategic Next-Phase Initiatives:</a:t>
            </a:r>
          </a:p>
          <a:p>
            <a:pPr>
              <a:defRPr sz="1300">
                <a:solidFill>
                  <a:srgbClr val="1E293B"/>
                </a:solidFill>
              </a:defRPr>
            </a:pPr>
            <a:r>
              <a:t>• Native Mobile Applications (iOS &amp; Android): Developing a cross-platform React Native client with native push notifications for morning and evening mindfulness reminders.</a:t>
            </a:r>
          </a:p>
          <a:p>
            <a:pPr>
              <a:defRPr sz="1300">
                <a:solidFill>
                  <a:srgbClr val="1E293B"/>
                </a:solidFill>
              </a:defRPr>
            </a:pPr>
            <a:r>
              <a:t>• Smartwatch HRV Sensor Integration: Connecting Bluetooth smartwatch APIs to stream real-time Heart Rate Variability (HRV) and sleep stage data for physiological stress detection.</a:t>
            </a:r>
          </a:p>
          <a:p>
            <a:pPr>
              <a:defRPr sz="1300">
                <a:solidFill>
                  <a:srgbClr val="1E293B"/>
                </a:solidFill>
              </a:defRPr>
            </a:pPr>
            <a:r>
              <a:t>• Encrypted WebRTC Tele-Counseling: Enabling students to book and conduct private, end-to-end encrypted video appointments directly with licensed campus counselors.</a:t>
            </a:r>
          </a:p>
          <a:p>
            <a:pPr>
              <a:defRPr sz="1300">
                <a:solidFill>
                  <a:srgbClr val="1E293B"/>
                </a:solidFill>
              </a:defRPr>
            </a:pPr>
            <a:r>
              <a:t>• Multi-Lingual Indic NLP Support: Expanding DistilBERT transformer fine-tuning to support Hindi and regional Indian dialects using IndicBERT 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1371600"/>
          </a:xfrm>
          <a:prstGeom prst="rect">
            <a:avLst/>
          </a:prstGeom>
          <a:noFill/>
        </p:spPr>
        <p:txBody>
          <a:bodyPr wrap="none">
            <a:spAutoFit/>
          </a:bodyPr>
          <a:lstStyle/>
          <a:p>
            <a:pPr>
              <a:defRPr sz="4800" b="1">
                <a:solidFill>
                  <a:srgbClr val="FFFFFF"/>
                </a:solidFill>
              </a:defRPr>
            </a:pPr>
            <a:r>
              <a:t>Thank You!</a:t>
            </a:r>
          </a:p>
          <a:p>
            <a:pPr>
              <a:defRPr sz="1600">
                <a:solidFill>
                  <a:srgbClr val="CBD5E1"/>
                </a:solidFill>
              </a:defRPr>
            </a:pPr>
            <a:r>
              <a:t>AIRA demonstrates that artificial intelligence, behavioral analytics, and spatial services can combine to provide proactive, compassionate, and life-saving mental health care for students.</a:t>
            </a:r>
          </a:p>
        </p:txBody>
      </p:sp>
      <p:sp>
        <p:nvSpPr>
          <p:cNvPr id="4" name="Rounded Rectangle 3"/>
          <p:cNvSpPr/>
          <p:nvPr/>
        </p:nvSpPr>
        <p:spPr>
          <a:xfrm>
            <a:off x="1097280" y="3657600"/>
            <a:ext cx="9966960" cy="219456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840480"/>
            <a:ext cx="9418320" cy="1828800"/>
          </a:xfrm>
          <a:prstGeom prst="rect">
            <a:avLst/>
          </a:prstGeom>
          <a:noFill/>
        </p:spPr>
        <p:txBody>
          <a:bodyPr wrap="none">
            <a:spAutoFit/>
          </a:bodyPr>
          <a:lstStyle/>
          <a:p>
            <a:pPr>
              <a:defRPr sz="1800" b="1">
                <a:solidFill>
                  <a:srgbClr val="38BDF8"/>
                </a:solidFill>
              </a:defRPr>
            </a:pPr>
            <a:r>
              <a:t>NOW OPEN FOR DEFENSE QUESTIONS &amp; EVALUATION</a:t>
            </a:r>
          </a:p>
          <a:p>
            <a:pPr>
              <a:defRPr sz="1300">
                <a:solidFill>
                  <a:srgbClr val="FFFFFF"/>
                </a:solidFill>
              </a:defRPr>
            </a:pPr>
            <a:r>
              <a:t>Authors: Anand Singh Rathore (2024BTECH158) &amp; Diksha Shekhawat (2024BTECH156)</a:t>
            </a:r>
            <a:br/>
            <a:r>
              <a:t>Supervisors: Dr. Sonali Vyas, Dr. Rajnish Kumar &amp; Dr. Saurabh Kumar</a:t>
            </a:r>
            <a:br/>
            <a:r>
              <a:t>Department of CSE, JK Lakshmipat University, Jaipur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